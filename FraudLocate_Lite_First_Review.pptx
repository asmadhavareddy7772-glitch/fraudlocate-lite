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0" y="164592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HACKATHON PROJECT FIRST REVIEW | PROBLEM STATEMENT PS-024</a:t>
            </a:r>
          </a:p>
          <a:p>
            <a:pPr>
              <a:spcBef>
                <a:spcPts val="800"/>
              </a:spcBef>
              <a:defRPr sz="4000" b="1">
                <a:solidFill>
                  <a:srgbClr val="F8FAFC"/>
                </a:solidFill>
                <a:latin typeface="Arial"/>
              </a:defRPr>
            </a:pPr>
            <a:r>
              <a:t>FraudLocate Lite</a:t>
            </a:r>
          </a:p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Mule Withdrawal Hotspot Mapper &amp; Patrol Route Suggester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Domain: Data Science &amp; Predictive Analytics</a:t>
            </a:r>
            <a:br/>
            <a:r>
              <a:t>Operational Patrol Planning Decision-Support System</a:t>
            </a:r>
          </a:p>
          <a:p>
            <a:pPr>
              <a:spcBef>
                <a:spcPts val="24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Presented by: Project Team | Stage: First Review &amp; Architecture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Real-World Challenge: Mule Cash-Out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1. The Modus Operandi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Fast Fund Layering: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Cyber fraud syndicates channel stolen money through multiple mule accounts within minutes.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Physical Cash-Out: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Money is physically liquidated at urban ATM kiosks to sever digital paper trails.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Repeated Maximum Limits: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Mule agents make repeated withdrawals (Rs. 10k - 50k) at dense commercial hubs.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2. Policing Dilemma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High ATM Dispersion: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Metropolitan cities possess 5,000+ ATM kiosks. Police cannot patrol everywhere simultaneously.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Static / Reactive Beats: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Standard police PCR patrols follow static, rigid routes that do not adapt to historical cybercrime patterns.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Data-Planning Gap: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No integrated operational tool translates historical cybercrime data into daily patrol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3. 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FraudLocate Lite Goal: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Build a fast, 24-hr feasible decision-support dashboard for police patrol planning.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Key Capabilities: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Cluster withdrawal hotspots via DBSCAN (Haversine metric).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Prioritize areas via transparent scoring.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Analyze peak 24-hr &amp; weekly hours.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Suggest heuristic patrol routes with travel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Problem Statement PS-024 &amp; Scope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In-Scope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Ingestion &amp; Cleaning of 2,500+ synthetic ATM withdrawal records.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Density-Based Geospatial Clustering (DBSCAN) using spherical Haversine metric on radians.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Transparent Hotspot Activity Ranking (Patrol Coverage Priority Score based on Volume, ATMs, Amount, Recency).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24-Hour &amp; 7-Day Temporal Liquidation Analysis (Peak hours &amp; Day x Hour heatmaps).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Nearest-Neighbor Patrol Route Heuristic with turn-by-turn waypoint schedule and estimated travel times.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Interactive Web Command Center built with Streamlit, Folium, and Plotly.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Strict Ethical &amp; Scope Restrictions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🚫 NO Real-World Surveillance or Citizen Tracking: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Does not access live CCTV, phone towers, or facial recognition.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🚫 NO Live Banking Connection: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Does not connect to private core banking systems or ATM networks.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🚫 NO Criminal Prediction Claims: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Does NOT claim to predict where criminals will strike next or claim guaranteed interception.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🚫 NO Conviction Evidence: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Produces operational planning advice, not forensic or court evidence.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100% Synthetic &amp; Anonymized Data: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Complies fully with privacy, data protection, and ethical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 &amp;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1. Synthetic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Generates 2,500 records across urban hubs + spatial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2. Validation &amp;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Coordinate limits, timestamp parsing, deduplication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3. DBSCAN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86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Haversine metric on radians; separates clusters from noise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4. Priority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0-100 score: 40% Volume, 20% ATMs, 20% Amount, 20% Recency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069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5. Temporal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572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24-hr distribution, day-of-week trends, Day x Hour heatmap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0690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6. Patrol Route Suggester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57200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Nearest-Neighbor TSP heuristic with speed-based travel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Synthetic Data Generation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Realistic Synthetic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Volume &amp; City Scale: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2,500 synthetic records modeled on Hyderabad metro urban hubs.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Field Schema: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transaction_id, timestamp, date, time, day_of_week, hour, latitude, longitude, atm_id, atm_name, area, city, withdrawal_amount, bank_branch, simulated_tag.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Cluster Activity Tiers: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Ameerpet Commercial Hub (High Activity)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Madhapur Tech Corridor (High Activity)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Secunderabad Transit Hub (Medium Activity)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Dilsukhnagar Market Corridor (Medium Activity)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Charminar Heritage Bazaar (Low-Medium Activity)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Spatial Noise: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10% uniformly distributed outliers across greater city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 Preprocessing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Mandatory Data Quality Pipeline: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1. Schema Verification: Ensures all 9 required columns exist.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2. Coordinate Cleaning: Bounds checking (Lat [-90, 90], Lon [-180, 180]) &amp; NaN rejection.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3. Timestamp Parsing: Extracts hour (0-23), day of week, date.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4. Deduplication: Removes duplicate transaction IDs.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5. Radians Conversion: Computes lat_rad and lon_rad for spherical clustering.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Live Quality Metrics Summary: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Total Ingested: 2,500 records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Valid Clean Records: 2,500 (100% Data Quality)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Unique ATM Kiosks: 26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Date Span: 2026-08-01 to 2026-09-30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Total Withdrawal Volume: ~Rs. 6.4 Crore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Core Engine 1: DBSCAN with Spherical Haversine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Why Euclidean Fails on Earth Coordinates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The Coordinate Trap: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Treating (Latitude, Longitude) as flat Cartesian coordinates produces severe geometric distortion because meridians converge toward poles.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The Spherical Solution (Haversine):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d = 2R * arcsin( sqrt( sin²(Δφ/2) + cos(φ1)cos(φ2)sin²(Δλ/2) ) 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Epsilon Conversion to Radians: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Scikit-learn DBSCAN with metric='haversine' expects eps in radians: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eps_radians = radius_km / 6371.0088 km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Core Density (MinPoints):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Specifies minimum withdrawals within radius to establish a dense cluster.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Cluster Output &amp; Noise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Non-Linear Cluster Detection: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Unlike K-Means (which forces circular shapes and requires pre-setting K), DBSCAN discovers arbitrary geographic corridor shapes.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Active Hotspot Properties: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For each cluster, the engine computes: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Centroid Coordinate (geographic mean of members)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Approximate Coverage Radius (max distance from centroid)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Total &amp; Average Withdrawal Amounts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Peak Operational Hour &amp; Day of Week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Noise Labelled, Not Discarded: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Unclustered points (~10%) are labelled 'Noise / Unclustered' (cluster_id = -1) and rendered as distinct grey markers on the 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Core Engine 2: Transparent Patrol Coverage Priority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Mathematical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Priority Score (0 to 100 points):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Score = 100 * [ w_count * Norm(Withdrawals)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              + w_atms  * Norm(Unique ATMs)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              + w_amount * Norm(Total Amount)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              + w_recent * Norm(Recency Ratio) ]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Default Weight Calibration: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Withdrawal Volume (w_count): 0.40 (40%)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Infrastructure Footprint (w_atms): 0.20 (20%)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Total Liquidation Amount (w_amount): 0.20 (20%)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Historical Recency (w_recent): 0.20 (20%)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Tunable in Real Time: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Police commanders can adjust weights via interactive sliders.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Operational Tiers &amp; Ethical 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Three Operational Patrol Tiers: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High Priority (&gt;= 70 pts): Critical patrol presence needed.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Medium Priority (40 - 69.9 pts): Scheduled regular coverage.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Low Priority (&lt; 40 pts): Periodic monitoring.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Avoiding the 'Predictive Policing' Trap: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We do NOT claim: 'Crime WILL happen at this ATM tomorrow.'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We state: 'Historical data shows this area had the highest cash liquidation activity; prioritize patrol resources here.'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Objective &amp; Accountable: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Formulas are fully documented and visible, preventing algorithmic bias.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Core Engine 3: Temporal Analytics &amp; Peak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24-Hour Trendline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Hourly Aggregation: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Withdrawals grouped across 24 hourly buckets (00:00 to 23:00).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Peak Liquidation Window: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Identifies sharp peaks in late afternoon &amp; evening (14:00 - 22:00).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Operational Impact: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Allows police to align 8-hour shift handovers so maximum personnel are on beat during peak cash-out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Day-of-Week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7-Day Weekly Frequency: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Mon, Tue, Wed, Thu, Fri, Sat, Sun.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Volume &amp; Cash Flow: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Correlates transaction counts with total rupee amounts per day.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Weekend vs Weekday Shifts: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Highlights variations when mule rings exploit banking clearing holidays or high foot-traffic weekend markets.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Day x Hour Intensity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2D Cross-Tabulated Heatmap: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X-axis: 24 Hours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Y-axis: 7 Days of Week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Cell Value: Withdrawal intensity.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Micro-Targeted Patrols: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Instead of blanket patrols, commanders pinpoint exact high-risk blocks (e.g., Friday 19:00 or Sunday 21:00).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• Built with Plotly for dynamic zoom &amp; hover tooltips.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Core Engine 4: Nearest-Neighbor Patrol Route Suggester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The Routing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Algorithm (Nearest-Neighbor Greedy TSP):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1. Identify top N historical hotspots (e.g. Top 3, 5, 10).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2. Set origin at Central Police Command Base.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3. Greedily find and visit the closest unvisited hotspot centroid using Haversine distance.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4. Repeat until all selected targets are visited.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5. Complete circuit by returning to Command Base.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Travel Time Estimation: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Time = (Leg Distance km / Patrol Speed km/h) * 60 minutes.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User can select speed: 20, 30, 40, or 50 km/h.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Operational Output &amp; Safeguard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Turn-by-Turn Waypoint Schedule Table: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Generates structured route schedule for patrol officers: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Stop # (Start, 1, 2, 3... End Base)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Destination &amp; Area Name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Priority Level &amp; Withdrawals Handled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Leg Distance &amp; Cumulative Route Distance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- Leg Travel Time &amp; Total Elapsed Time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• Mandatory Operational Disclaimer: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'Travel time is an estimate and does not account for real-time traffic, signals, or emergency road conditions.'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Current Implementation Status &amp; Demo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Completed Prototype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Full Working Streamlit Application: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Active on http://localhost:8501 (HTTP 200 OK).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6 Interactive Command Center Sections: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1. Overview (KPIs, Map, Top Hotspots Leaderboard)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2. Hotspot Analysis (DBSCAN sliders, Cluster Table, Weights)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3. Time Analysis (Hourly, Day-of-Week, Intensity Matrix)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4. Patrol Route Suggester (Route map, Turn schedule)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5. Dataset &amp; Quality (Preview, Validation, CSV Download)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6. Methodology &amp; Ethics (Formulas, Safeguards)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Interactive Folium Mapping: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Multi-layer toggles for HeatMap, Centroids, Radii, Points, and Route polylines.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Code Quality &amp;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Automated Test Suite Passed: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10 out of 10 pytest tests passing (100% pass rate in 2.47s).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Modular Python Architecture: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src/distance.py (Haversine &amp; matrix)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src/preprocessing.py (Cleaning &amp; Quality)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src/clustering.py (DBSCAN engine)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src/hotspot_analysis.py (Metrics &amp; Priority)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src/time_analysis.py (Plotly heatmaps)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src/route_optimizer.py (Nearest-Neighbor)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src/visualization.py (Folium layers)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- utils/data_generator.py (Synthetic data)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✔ Standalone &amp; Reproducible: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Requirements.txt, detailed README.md, and instant demo mode.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Live Evaluation Demo Flow (3–5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Step 1: Ingestion &amp; KPIs (0:30)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Show command header, ethical banner, 6 KPI cards (2,500 txns, Rs. 64L, 26 ATMs).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2: Overview Map (1:00)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Toggle Folium layers: HeatMap intensity vs Cluster centroids and spatial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Step 3: DBSCAN Tuning (1:45)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Adjust Epsilon Radius (0.5 to 2.0 km) &amp; Min Points; watch clusters adapt dynamically.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3756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Step 4: Priority Scoring (2:30)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0332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Inspect Hotspot Leaderboard and customize 4-factor formula weights.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Step 5: Time Analysis (3:15)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Review 24-hr peak window (14:00 - 22:00) and Day x Hour cross-tabulated heatmap.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5488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89204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Step 6: Patrol Route (4:00)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2578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Generate 5-stop patrol route from Command Base; show turn table &amp; travel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PS-024: DATA SCIENCE &amp;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Roadmap &amp; Next Steps (Toward Final 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Planned Technical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1. Road Network Graph Integration: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Integrate OpenStreetMap (OSM) / OSRM to calculate real turn restrictions and driving distances instead of straight-line geodesic legs.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2. Multi-Vehicle Fleet Dispatch: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Solve the Vehicle Routing Problem (VRP) for simultaneous multi-car police patrol distribution across city zones.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3. Shift-Specific Patrol Scheduling: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Automatically filter clusters by active 8-hour police patrol shifts (Morning, Evening, Night).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4. Automated Daily Briefing PDF Export: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One-click generation of printable patrol duty briefing sheets for field officers.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Key Takeaways for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Problem Statement PS-024 Full Compliance: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Meets every single requirement within 24-hr scope.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Strong Clustering Quality (40%):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Correct spherical Haversine DBSCAN with tunable radius, min_samples, and noise identification.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Robust Patrol Route Logic (30%):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Greedy Nearest-Neighbor heuristic with speed-based travel times and turn-by-turn waypoint schedule.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✔ Exceptional UI/UX &amp; Ethics (30%):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Command center dark theme, rich KPI cards, and strict non-surveillance ethical safeguards.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09728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10896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06B6D4"/>
                </a:solidFill>
                <a:latin typeface="Arial"/>
              </a:defRPr>
            </a:pPr>
            <a:r>
              <a:t>FraudLocate Lite — Operational Decision Support for Patrol Planning</a:t>
            </a:r>
          </a:p>
          <a:p>
            <a:pPr algn="ctr">
              <a:spcBef>
                <a:spcPts val="1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Problem Statement: PS-024 | Domain: Data Science &amp; Predictive Analytics</a:t>
            </a:r>
            <a:br/>
            <a:r>
              <a:t>Live Prototype: http://localhost:8501 |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